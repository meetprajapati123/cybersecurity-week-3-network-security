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59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147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56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9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89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112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579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315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74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90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86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6126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04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0504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329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06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506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87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1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2D5F87"/>
                </a:solidFill>
              </a:defRPr>
            </a:pPr>
            <a:r>
              <a:t>WEEK 3</a:t>
            </a:r>
          </a:p>
          <a:p>
            <a:pPr algn="ctr">
              <a:defRPr sz="2800" b="1">
                <a:solidFill>
                  <a:srgbClr val="193755"/>
                </a:solidFill>
              </a:defRPr>
            </a:pPr>
            <a:r>
              <a:t>ADVANCED CYBERSECURITY PRACTICAL</a:t>
            </a:r>
          </a:p>
          <a:p>
            <a:pPr algn="ctr">
              <a:defRPr sz="1500">
                <a:solidFill>
                  <a:srgbClr val="64696E"/>
                </a:solidFill>
              </a:defRPr>
            </a:pPr>
            <a:r>
              <a:t>Network Discovery • Wireshark • Vulnerability Assessment • Hardening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4023360"/>
            <a:ext cx="5760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3282D"/>
                </a:solidFill>
              </a:defRPr>
            </a:pPr>
            <a:r>
              <a:t>Prajapati Meet Ghanshyam</a:t>
            </a:r>
          </a:p>
          <a:p>
            <a:pPr algn="ctr">
              <a:defRPr sz="1200">
                <a:solidFill>
                  <a:srgbClr val="64696E"/>
                </a:solidFill>
              </a:defRPr>
            </a:pPr>
            <a:r>
              <a:t>DG Interns Hub | Week 3 Task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1. Lab Setup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4696E"/>
                </a:solidFill>
              </a:defRPr>
            </a:pPr>
            <a:r>
              <a:t>Prajapati Meet Ghanshyam | DG Interns Hub | 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</a:defRPr>
            </a:pPr>
            <a:r>
              <a:t>• Authorized VirtualBox Host-Only lab.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</a:defRPr>
            </a:pPr>
            <a:r>
              <a:t>• Kali: 192.168.56.101/24 on eth1.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</a:defRPr>
            </a:pPr>
            <a:r>
              <a:t>• Windows: 192.168.56.1/24 on Ethernet 2.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</a:defRPr>
            </a:pPr>
            <a:r>
              <a:t>• Tasks 7–14: discovery, traffic analysis, vulnerability checks and hardening.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82D"/>
                </a:solidFill>
              </a:defRPr>
            </a:pPr>
            <a:r>
              <a:t>• Scope was limited to the isolated lab network.</a:t>
            </a:r>
          </a:p>
          <a:p>
            <a:pPr>
              <a:spcAft>
                <a:spcPts val="600"/>
              </a:spcAft>
              <a:defRPr sz="1400">
                <a:solidFill>
                  <a:srgbClr val="23282D"/>
                </a:solidFill>
              </a:defRPr>
            </a:pPr>
            <a:r>
              <a:t>• No public or third-party systems were targeted.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2. Task 7 — Network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4696E"/>
                </a:solidFill>
              </a:defRPr>
            </a:pPr>
            <a:r>
              <a:t>Prajapati Meet Ghanshyam | DG Interns Hub | Week 3</a:t>
            </a:r>
          </a:p>
        </p:txBody>
      </p:sp>
      <p:pic>
        <p:nvPicPr>
          <p:cNvPr id="5" name="Picture 4" descr="image(20261007-05133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118197"/>
            <a:ext cx="3703320" cy="4727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3803904"/>
            <a:ext cx="3703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Lab network</a:t>
            </a:r>
          </a:p>
        </p:txBody>
      </p:sp>
      <p:pic>
        <p:nvPicPr>
          <p:cNvPr id="7" name="Picture 6" descr="image(20261007-023606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59" y="1899786"/>
            <a:ext cx="3703320" cy="9095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51959" y="3803904"/>
            <a:ext cx="3703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Host discovery</a:t>
            </a:r>
          </a:p>
        </p:txBody>
      </p:sp>
      <p:pic>
        <p:nvPicPr>
          <p:cNvPr id="9" name="Picture 8" descr="image(20261007-023624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704621"/>
            <a:ext cx="3703320" cy="12999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83879" y="3803904"/>
            <a:ext cx="3703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Initial TCP 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82D"/>
                </a:solidFill>
              </a:defRPr>
            </a:pPr>
            <a:r>
              <a:t>• 192.168.56.1 discovered as the lab Windows host.</a:t>
            </a:r>
          </a:p>
          <a:p>
            <a:pPr>
              <a:spcAft>
                <a:spcPts val="600"/>
              </a:spcAft>
              <a:defRPr sz="1600">
                <a:solidFill>
                  <a:srgbClr val="23282D"/>
                </a:solidFill>
              </a:defRPr>
            </a:pPr>
            <a:r>
              <a:t>• Initial scan: 3306/tcp and 7070/tcp open.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3. Task 8 — Service &amp; OS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4696E"/>
                </a:solidFill>
              </a:defRPr>
            </a:pPr>
            <a:r>
              <a:t>Prajapati Meet Ghanshyam | DG Interns Hub | Week 3</a:t>
            </a:r>
          </a:p>
        </p:txBody>
      </p:sp>
      <p:pic>
        <p:nvPicPr>
          <p:cNvPr id="5" name="Picture 4" descr="image(20261007-02391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60146"/>
            <a:ext cx="5394960" cy="15775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4992624"/>
            <a:ext cx="5394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Service detection</a:t>
            </a:r>
          </a:p>
        </p:txBody>
      </p:sp>
      <p:pic>
        <p:nvPicPr>
          <p:cNvPr id="7" name="Picture 6" descr="image(20261007-024527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465074"/>
            <a:ext cx="5394960" cy="9677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992624"/>
            <a:ext cx="5394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OS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82D"/>
                </a:solidFill>
              </a:defRPr>
            </a:pPr>
            <a:r>
              <a:t>• 3306 identified as MySQL; exact version not disclosed.</a:t>
            </a:r>
          </a:p>
          <a:p>
            <a:pPr>
              <a:spcAft>
                <a:spcPts val="600"/>
              </a:spcAft>
              <a:defRPr sz="1300">
                <a:solidFill>
                  <a:srgbClr val="23282D"/>
                </a:solidFill>
              </a:defRPr>
            </a:pPr>
            <a:r>
              <a:t>• OS estimate: Microsoft Windows family; exact match not confirmed.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4. Task 8 — SYN &amp; UDP Scans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4696E"/>
                </a:solidFill>
              </a:defRPr>
            </a:pPr>
            <a:r>
              <a:t>Prajapati Meet Ghanshyam | DG Interns Hub | Week 3</a:t>
            </a:r>
          </a:p>
        </p:txBody>
      </p:sp>
      <p:pic>
        <p:nvPicPr>
          <p:cNvPr id="5" name="Picture 4" descr="image(20261007-02462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93351"/>
            <a:ext cx="5394960" cy="17111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4992624"/>
            <a:ext cx="5394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SYN scan</a:t>
            </a:r>
          </a:p>
        </p:txBody>
      </p:sp>
      <p:pic>
        <p:nvPicPr>
          <p:cNvPr id="7" name="Picture 6" descr="image(20261007-024846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722" y="914400"/>
            <a:ext cx="5253115" cy="4069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992624"/>
            <a:ext cx="5394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UDP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82D"/>
                </a:solidFill>
              </a:defRPr>
            </a:pPr>
            <a:r>
              <a:t>• SYN scan reproduced the two open TCP services.</a:t>
            </a:r>
          </a:p>
          <a:p>
            <a:pPr>
              <a:spcAft>
                <a:spcPts val="600"/>
              </a:spcAft>
              <a:defRPr sz="1300">
                <a:solidFill>
                  <a:srgbClr val="23282D"/>
                </a:solidFill>
              </a:defRPr>
            </a:pPr>
            <a:r>
              <a:t>• UDP top ports were reported as open|filtered.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5. Task 9 — Wireshark: UDP, ICMP &amp; ARP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4696E"/>
                </a:solidFill>
              </a:defRPr>
            </a:pPr>
            <a:r>
              <a:t>Prajapati Meet Ghanshyam | DG Interns Hub | Week 3</a:t>
            </a:r>
          </a:p>
        </p:txBody>
      </p:sp>
      <p:pic>
        <p:nvPicPr>
          <p:cNvPr id="5" name="Picture 4" descr="image(20261007-05213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76141"/>
            <a:ext cx="3703320" cy="1116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64024"/>
            <a:ext cx="3703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UDP / LLMNR-mDNS</a:t>
            </a:r>
          </a:p>
        </p:txBody>
      </p:sp>
      <p:pic>
        <p:nvPicPr>
          <p:cNvPr id="7" name="Picture 6" descr="image(20261007-05221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59" y="2566969"/>
            <a:ext cx="3703320" cy="5353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51959" y="4764024"/>
            <a:ext cx="3703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ICMP</a:t>
            </a:r>
          </a:p>
        </p:txBody>
      </p:sp>
      <p:pic>
        <p:nvPicPr>
          <p:cNvPr id="9" name="Picture 8" descr="image(20261007-052249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2051364"/>
            <a:ext cx="3703320" cy="15665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83879" y="4764024"/>
            <a:ext cx="3703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ARP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82D"/>
                </a:solidFill>
              </a:defRPr>
            </a:pPr>
            <a:r>
              <a:t>• Observed local discovery traffic, successful ICMP, and ARP resolution.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6. Task 9 — Wireshark: TCP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4696E"/>
                </a:solidFill>
              </a:defRPr>
            </a:pPr>
            <a:r>
              <a:t>Prajapati Meet Ghanshyam | DG Interns Hub | Week 3</a:t>
            </a:r>
          </a:p>
        </p:txBody>
      </p:sp>
      <p:pic>
        <p:nvPicPr>
          <p:cNvPr id="5" name="Picture 4" descr="image(20261007-05253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47607"/>
            <a:ext cx="5394960" cy="19398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129783"/>
            <a:ext cx="5394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TCP SYN/SYN-ACK</a:t>
            </a:r>
          </a:p>
        </p:txBody>
      </p:sp>
      <p:pic>
        <p:nvPicPr>
          <p:cNvPr id="7" name="Picture 6" descr="image(20261007-05270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43390"/>
            <a:ext cx="5394960" cy="19482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129783"/>
            <a:ext cx="5394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TCP 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82D"/>
                </a:solidFill>
              </a:defRPr>
            </a:pPr>
            <a:r>
              <a:t>• SYN/SYN-ACK packets show connection establishment attempts.</a:t>
            </a:r>
          </a:p>
          <a:p>
            <a:pPr>
              <a:spcAft>
                <a:spcPts val="600"/>
              </a:spcAft>
              <a:defRPr sz="1300">
                <a:solidFill>
                  <a:srgbClr val="23282D"/>
                </a:solidFill>
              </a:defRPr>
            </a:pPr>
            <a:r>
              <a:t>• RST packets terminate the half-open SYN scan.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7. Task 10 — Nmap + Wireshark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4696E"/>
                </a:solidFill>
              </a:defRPr>
            </a:pPr>
            <a:r>
              <a:t>Prajapati Meet Ghanshyam | DG Interns Hub | Week 3</a:t>
            </a:r>
          </a:p>
        </p:txBody>
      </p:sp>
      <p:pic>
        <p:nvPicPr>
          <p:cNvPr id="5" name="Picture 4" descr="image(20261007-05191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32406"/>
            <a:ext cx="6675120" cy="31531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312664"/>
            <a:ext cx="6675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Packet-level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417320"/>
            <a:ext cx="3840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82D"/>
                </a:solidFill>
              </a:defRPr>
            </a:pPr>
            <a:r>
              <a:t>• SYN → 3306 → SYN/ACK.</a:t>
            </a:r>
          </a:p>
          <a:p>
            <a:pPr>
              <a:spcAft>
                <a:spcPts val="600"/>
              </a:spcAft>
              <a:defRPr sz="1600">
                <a:solidFill>
                  <a:srgbClr val="23282D"/>
                </a:solidFill>
              </a:defRPr>
            </a:pPr>
            <a:r>
              <a:t>• SYN → 7070 → SYN/ACK.</a:t>
            </a:r>
          </a:p>
          <a:p>
            <a:pPr>
              <a:spcAft>
                <a:spcPts val="600"/>
              </a:spcAft>
              <a:defRPr sz="1600">
                <a:solidFill>
                  <a:srgbClr val="23282D"/>
                </a:solidFill>
              </a:defRPr>
            </a:pPr>
            <a:r>
              <a:t>• RST packets terminate the half-open scan.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8. Task 11 — Endpoints &amp; DNS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4696E"/>
                </a:solidFill>
              </a:defRPr>
            </a:pPr>
            <a:r>
              <a:t>Prajapati Meet Ghanshyam | DG Interns Hub | Week 3</a:t>
            </a:r>
          </a:p>
        </p:txBody>
      </p:sp>
      <p:pic>
        <p:nvPicPr>
          <p:cNvPr id="5" name="Picture 4" descr="image(20261007-05334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59864"/>
            <a:ext cx="5394960" cy="15153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129783"/>
            <a:ext cx="5394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IPv4 Endpoints</a:t>
            </a:r>
          </a:p>
        </p:txBody>
      </p:sp>
      <p:pic>
        <p:nvPicPr>
          <p:cNvPr id="7" name="Picture 6" descr="Screenshot 2026-10-07 1106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55228"/>
            <a:ext cx="5394960" cy="25245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129783"/>
            <a:ext cx="5394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DNS 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82D"/>
                </a:solidFill>
              </a:defRPr>
            </a:pPr>
            <a:r>
              <a:t>• Primary endpoints: 192.168.56.1 and 192.168.56.101.</a:t>
            </a:r>
          </a:p>
          <a:p>
            <a:pPr>
              <a:spcAft>
                <a:spcPts val="600"/>
              </a:spcAft>
              <a:defRPr sz="1300">
                <a:solidFill>
                  <a:srgbClr val="23282D"/>
                </a:solidFill>
              </a:defRPr>
            </a:pPr>
            <a:r>
              <a:t>• DNS filter displayed 0 packets in the selected capture.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9. Task 11 — TCP &amp; Suspicious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4696E"/>
                </a:solidFill>
              </a:defRPr>
            </a:pPr>
            <a:r>
              <a:t>Prajapati Meet Ghanshyam | DG Interns Hub | Week 3</a:t>
            </a:r>
          </a:p>
        </p:txBody>
      </p:sp>
      <p:pic>
        <p:nvPicPr>
          <p:cNvPr id="5" name="Picture 4" descr="Screenshot 2026-10-07 1106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55228"/>
            <a:ext cx="5394960" cy="25245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129783"/>
            <a:ext cx="5394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TCP investigation</a:t>
            </a:r>
          </a:p>
        </p:txBody>
      </p:sp>
      <p:pic>
        <p:nvPicPr>
          <p:cNvPr id="7" name="Picture 6" descr="Screenshot 2026-10-07 1107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570517"/>
            <a:ext cx="5394960" cy="8940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129783"/>
            <a:ext cx="5394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TCP SYN 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82D"/>
                </a:solidFill>
              </a:defRPr>
            </a:pPr>
            <a:r>
              <a:t>• 3306 and 7070 received SYN/ACK responses.</a:t>
            </a:r>
          </a:p>
          <a:p>
            <a:pPr>
              <a:spcAft>
                <a:spcPts val="600"/>
              </a:spcAft>
              <a:defRPr sz="1300">
                <a:solidFill>
                  <a:srgbClr val="23282D"/>
                </a:solidFill>
              </a:defRPr>
            </a:pPr>
            <a:r>
              <a:t>• Traffic was generated intentionally by the authorized Nmap scan.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10. Task 12 — Vulnerability &amp; MySQL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4696E"/>
                </a:solidFill>
              </a:defRPr>
            </a:pPr>
            <a:r>
              <a:t>Prajapati Meet Ghanshyam | DG Interns Hub | Week 3</a:t>
            </a:r>
          </a:p>
        </p:txBody>
      </p:sp>
      <p:pic>
        <p:nvPicPr>
          <p:cNvPr id="5" name="Picture 4" descr="Screenshot 2026-10-07 111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49552"/>
            <a:ext cx="3703320" cy="11244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18304"/>
            <a:ext cx="3703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Vulnerability NSE</a:t>
            </a:r>
          </a:p>
        </p:txBody>
      </p:sp>
      <p:pic>
        <p:nvPicPr>
          <p:cNvPr id="7" name="Picture 6" descr="Screenshot 2026-10-07 1111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59" y="2247249"/>
            <a:ext cx="3703320" cy="11290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51959" y="4718304"/>
            <a:ext cx="3703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MySQL info</a:t>
            </a:r>
          </a:p>
        </p:txBody>
      </p:sp>
      <p:pic>
        <p:nvPicPr>
          <p:cNvPr id="9" name="Picture 8" descr="Screenshot 2026-10-07 1113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2426485"/>
            <a:ext cx="3703320" cy="7705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83879" y="4718304"/>
            <a:ext cx="3703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Empty-password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82D"/>
                </a:solidFill>
              </a:defRPr>
            </a:pPr>
            <a:r>
              <a:t>• No specific vulnerability reported by general NSE scan.</a:t>
            </a:r>
          </a:p>
          <a:p>
            <a:pPr>
              <a:spcAft>
                <a:spcPts val="600"/>
              </a:spcAft>
              <a:defRPr sz="1300">
                <a:solidFill>
                  <a:srgbClr val="23282D"/>
                </a:solidFill>
              </a:defRPr>
            </a:pPr>
            <a:r>
              <a:t>• Empty-password issue was not confirmed.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11. Task 12 — TLS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4696E"/>
                </a:solidFill>
              </a:defRPr>
            </a:pPr>
            <a:r>
              <a:t>Prajapati Meet Ghanshyam | DG Interns Hub | Week 3</a:t>
            </a:r>
          </a:p>
        </p:txBody>
      </p:sp>
      <p:pic>
        <p:nvPicPr>
          <p:cNvPr id="5" name="Picture 4" descr="Screenshot 2026-10-07 1115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87" y="914400"/>
            <a:ext cx="4300705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084064"/>
            <a:ext cx="5394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TLS ciphers</a:t>
            </a:r>
          </a:p>
        </p:txBody>
      </p:sp>
      <p:pic>
        <p:nvPicPr>
          <p:cNvPr id="7" name="Picture 6" descr="Screenshot 2026-10-07 1119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18512"/>
            <a:ext cx="5394960" cy="19522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084064"/>
            <a:ext cx="5394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TLS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40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82D"/>
                </a:solidFill>
              </a:defRPr>
            </a:pPr>
            <a:r>
              <a:t>• 7070 exposed a TLS service with legacy CBC/SHA-1 suites.</a:t>
            </a:r>
          </a:p>
          <a:p>
            <a:pPr>
              <a:spcAft>
                <a:spcPts val="600"/>
              </a:spcAft>
              <a:defRPr sz="1300">
                <a:solidFill>
                  <a:srgbClr val="23282D"/>
                </a:solidFill>
              </a:defRPr>
            </a:pPr>
            <a:r>
              <a:t>• TLS 1.3 was also supported; targeted vulnerability checks gave no specific finding.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12. Task 13 — Hardening: MySQL 3306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4696E"/>
                </a:solidFill>
              </a:defRPr>
            </a:pPr>
            <a:r>
              <a:t>Prajapati Meet Ghanshyam | DG Interns Hub | Week 3</a:t>
            </a:r>
          </a:p>
        </p:txBody>
      </p:sp>
      <p:pic>
        <p:nvPicPr>
          <p:cNvPr id="5" name="Picture 4" descr="Screenshot 2026-10-07 1144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36923"/>
            <a:ext cx="5394960" cy="23154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084064"/>
            <a:ext cx="5394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Firewall rule</a:t>
            </a:r>
          </a:p>
        </p:txBody>
      </p:sp>
      <p:pic>
        <p:nvPicPr>
          <p:cNvPr id="7" name="Picture 6" descr="Screenshot 2026-10-07 1145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01396"/>
            <a:ext cx="5394959" cy="17865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084064"/>
            <a:ext cx="5394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3306 filtered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40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82D"/>
                </a:solidFill>
              </a:defRPr>
            </a:pPr>
            <a:r>
              <a:t>• Firewall rule blocked TCP/3306 from 192.168.56.0/24.</a:t>
            </a:r>
          </a:p>
          <a:p>
            <a:pPr>
              <a:spcAft>
                <a:spcPts val="600"/>
              </a:spcAft>
              <a:defRPr sz="1300">
                <a:solidFill>
                  <a:srgbClr val="23282D"/>
                </a:solidFill>
              </a:defRPr>
            </a:pPr>
            <a:r>
              <a:t>• Verification changed 3306 from open to filtered.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13. Task 13 — Hardening: 7070 &amp; ICMP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4696E"/>
                </a:solidFill>
              </a:defRPr>
            </a:pPr>
            <a:r>
              <a:t>Prajapati Meet Ghanshyam | DG Interns Hub | Week 3</a:t>
            </a:r>
          </a:p>
        </p:txBody>
      </p:sp>
      <p:pic>
        <p:nvPicPr>
          <p:cNvPr id="5" name="Picture 4" descr="Screenshot 2026-10-07 1147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45773"/>
            <a:ext cx="5394960" cy="14977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084064"/>
            <a:ext cx="5394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7070 filtered</a:t>
            </a:r>
          </a:p>
        </p:txBody>
      </p:sp>
      <p:pic>
        <p:nvPicPr>
          <p:cNvPr id="7" name="Picture 6" descr="image(20261007-063109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565899"/>
            <a:ext cx="5394960" cy="8575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084064"/>
            <a:ext cx="5394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ICMP blocked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40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82D"/>
                </a:solidFill>
              </a:defRPr>
            </a:pPr>
            <a:r>
              <a:t>• 7070 changed from open to filtered.</a:t>
            </a:r>
          </a:p>
          <a:p>
            <a:pPr>
              <a:spcAft>
                <a:spcPts val="600"/>
              </a:spcAft>
              <a:defRPr sz="1300">
                <a:solidFill>
                  <a:srgbClr val="23282D"/>
                </a:solidFill>
              </a:defRPr>
            </a:pPr>
            <a:r>
              <a:t>• ICMP Echo was blocked: 100% packet loss.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14. Task 14 — 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4696E"/>
                </a:solidFill>
              </a:defRPr>
            </a:pPr>
            <a:r>
              <a:t>Prajapati Meet Ghanshyam | DG Interns Hub | Week 3</a:t>
            </a:r>
          </a:p>
        </p:txBody>
      </p:sp>
      <p:pic>
        <p:nvPicPr>
          <p:cNvPr id="5" name="Picture 4" descr="image(20261007-0637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97964"/>
            <a:ext cx="6629400" cy="26219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312664"/>
            <a:ext cx="6629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D5F87"/>
                </a:solidFill>
              </a:defRPr>
            </a:pPr>
            <a:r>
              <a:t>Final Nmap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23444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82D"/>
                </a:solidFill>
              </a:defRPr>
            </a:pPr>
            <a:r>
              <a:t>• 3306/tcp → filtered.</a:t>
            </a:r>
          </a:p>
          <a:p>
            <a:pPr>
              <a:spcAft>
                <a:spcPts val="600"/>
              </a:spcAft>
              <a:defRPr sz="1600">
                <a:solidFill>
                  <a:srgbClr val="23282D"/>
                </a:solidFill>
              </a:defRPr>
            </a:pPr>
            <a:r>
              <a:t>• 7070/tcp → filtered.</a:t>
            </a:r>
          </a:p>
          <a:p>
            <a:pPr>
              <a:spcAft>
                <a:spcPts val="600"/>
              </a:spcAft>
              <a:defRPr sz="1600">
                <a:solidFill>
                  <a:srgbClr val="23282D"/>
                </a:solidFill>
              </a:defRPr>
            </a:pPr>
            <a:r>
              <a:t>• Network attack surface was reduced.</a:t>
            </a:r>
          </a:p>
          <a:p>
            <a:pPr>
              <a:spcAft>
                <a:spcPts val="600"/>
              </a:spcAft>
              <a:defRPr sz="1600">
                <a:solidFill>
                  <a:srgbClr val="23282D"/>
                </a:solidFill>
              </a:defRPr>
            </a:pPr>
            <a:r>
              <a:t>• Tasks 7–14 completed in the authorized lab.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507492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3282D"/>
                </a:solidFill>
              </a:defRPr>
            </a:pPr>
            <a:r>
              <a:t>• Recommendation: retain firewall restrictions and review legacy TLS/local discovery settings.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</TotalTime>
  <Words>662</Words>
  <Application>Microsoft Office PowerPoint</Application>
  <PresentationFormat>Widescreen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Lenovo</dc:creator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2026-10-07T13:37:40Z</dcterms:modified>
  <cp:category/>
</cp:coreProperties>
</file>